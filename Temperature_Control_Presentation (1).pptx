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92" r:id="rId1"/>
  </p:sldMasterIdLst>
  <p:notesMasterIdLst>
    <p:notesMasterId r:id="rId9"/>
  </p:notesMasterIdLst>
  <p:handoutMasterIdLst>
    <p:handoutMasterId r:id="rId10"/>
  </p:handoutMasterIdLst>
  <p:sldIdLst>
    <p:sldId id="2561" r:id="rId2"/>
    <p:sldId id="2562" r:id="rId3"/>
    <p:sldId id="2563" r:id="rId4"/>
    <p:sldId id="2564" r:id="rId5"/>
    <p:sldId id="2565" r:id="rId6"/>
    <p:sldId id="2566" r:id="rId7"/>
    <p:sldId id="25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erature Control in Industrial Processes Using Sensors and Programming" id="{56498B87-3400-44AE-AA0D-62DAF24B61F5}">
          <p14:sldIdLst>
            <p14:sldId id="2561"/>
          </p14:sldIdLst>
        </p14:section>
        <p14:section name="Precision Temperature Control Solutions" id="{60D44217-1309-47BD-80CF-0E7A422D0CDD}">
          <p14:sldIdLst>
            <p14:sldId id="2562"/>
            <p14:sldId id="2563"/>
            <p14:sldId id="2564"/>
            <p14:sldId id="2565"/>
            <p14:sldId id="2566"/>
            <p14:sldId id="25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A2705F-BEA8-4CB3-B701-620A898DB9B8}" v="10" dt="2026-02-04T11:58:03.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86" autoAdjust="0"/>
    <p:restoredTop sz="94557"/>
  </p:normalViewPr>
  <p:slideViewPr>
    <p:cSldViewPr snapToGrid="0">
      <p:cViewPr varScale="1">
        <p:scale>
          <a:sx n="50" d="100"/>
          <a:sy n="50" d="100"/>
        </p:scale>
        <p:origin x="1136" y="26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2/4/2026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989716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Temperature Control Challenges, Role of Sensors in Improving Accuracy, Programming for Adaptive Temperature Control, Enhanced Precision Through Integrated Systems, Benefits and Outcomes of Adaptive Control Mechanisms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507227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Temperature control in industrial processes is a critical factor influencing product quality, safety, and operational efficiency. However, many traditional temperature regulation systems suffer from poor precision due to the absence of adaptive feedback mechanisms. This often results in unstable thermal conditions because conventional controllers are typically designed with fixed parameters that cannot react dynamically to changes in the process environment. For instance, fluctuations in raw material properties, ambient temperature variations, or system load can significantly alter heat transfer characteristics. Without real-time feedback, the system cannot compensate quickly, leading to inefficiencies and deviations from optimal conditions. Another major issue is manual calibration, which introduces human error and lacks the responsiveness required for modern automated environments. The problem becomes even more pronounced in industries such as chemical manufacturing, food processing, pharmaceuticals, and semiconductor fabrication, where temperature variations of even a few degrees can result in defective batches, safety hazards, or regulatory non-compliance. As industrial processes become more complex and demand higher precision, the need for intelligent, automated, and adaptive temperature control systems has become essential. Sensors and programming technologies address these challenges by creating control loops that continuously monitor, analyze, and adjust thermal conditions in real time. These modern approaches not only enhance accuracy but also support predictive maintenance, reduce energy consumption, and improve overall process stability. By integrating advanced sensor networks and programmable control algorithms, industries can move toward smarter manufacturing systems that operate with higher precision and reliability.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601748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Sensors play an essential role in achieving precise temperature control by providing continuous, accurate, and high-resolution data about the thermal conditions within an industrial process. Modern temperature sensors—such as thermocouples, resistance temperature detectors (RTDs), infrared sensors, and thermistors—offer reliable readings even in harsh environments characterized by extreme heat, pressure, or chemical exposure. These sensors enable real-time monitoring, ensuring that any deviation from the desired temperature range is detected immediately. With their fast response times, they allow control systems to react to changes almost instantaneously, minimizing fluctuations and maintaining stability. Additionally, advanced sensors support digital communication protocols, making it easier to integrate them into automated systems and enabling seamless data transmission to controllers or cloud platforms. This integration allows for sophisticated data analysis, anomaly detection, and predictive modeling. Sensor networks can also provide spatial temperature mapping across large equipment, identifying hotspots or uneven heating patterns that would be impossible to detect manually. By supplying accurate and timely data, sensors form the foundation of adaptive feedback mechanisms that improve process consistency, reduce waste, and enhance product quality.</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705383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Programming is central to implementing adaptive feedback mechanisms in temperature control systems. Through programmable logic controllers (PLCs), microcontrollers, and industrial automation software, engineers can develop algorithms that process sensor input and make real-time adjustments to heating or cooling devices. These control algorithms often include proportional–integral–derivative (PID) logic, fuzzy logic, or artificial intelligence–based decision systems. A programmed controller continuously analyzes temperature data, compares it with target setpoints, and calculates the optimal corrective action to maintain stability. In adaptive systems, the program can modify control parameters dynamically based on process conditions, ensuring that the system responds effectively even when operating environments change. Furthermore, programming enables integration with supervisory control systems, data logging, remote monitoring, and automated safety protocols. Developers can implement predictive algorithms that anticipate temperature deviations before they occur, improving overall responsiveness. With programming, temperature control systems become more intelligent, consistent, and energy-efficient, resulting in a substantial reduction in errors and improved throughput in industrial environments.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977236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When sensors and programming work together in an integrated system, they significantly improve temperature control precision. Real-time data collected by sensors feeds directly into programmed controllers that analyze the information and execute appropriate actions. This closed-loop control structure allows the system to maintain highly stable temperature conditions regardless of external disturbances or internal process variations. The integration also enables automation, reducing reliance on manual intervention and lowering the risk of human error. With continuous monitoring and instant response capabilities, the system can keep temperature deviations within extremely narrow tolerances, which is crucial for processes that demand high consistency and quality. Additionally, integrated systems support advanced features such as alarm triggers, safety shutdowns, predictive maintenance alerts, and detailed performance analytics. These functions not only enhance precision but also improve safety, reduce downtime, and minimize energy consumption. As industries increasingly adopt digital manufacturing frameworks, integrated sensor-programmed control systems are becoming a foundational element of modern smart factories.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141337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sensors and programming in temperature control systems leads to numerous benefits across industrial operations. Improved precision is one of the most significant advantages, as adaptive feedback mechanisms ensure that temperature remains within the desired range with minimal deviation. This precision contributes to higher product quality, especially in processes that rely heavily on consistent thermal conditions. Industrial safety also improves because systems can automatically detect abnormal temperature rises and trigger corrective actions or emergency shutdowns. Energy efficiency is another major benefit, as smarter control systems adjust power usage according to real-time needs rather than operating continuously at high capacity. Automated systems also reduce maintenance costs because they can identify early signs of equipment failure, enabling timely repairs. Additionally, these systems enhance productivity by minimizing downtime and ensuring smooth operation. In industries under strict regulatory control, such as pharmaceuticals and food production, precise temperature control helps maintain compliance with quality standards. Overall, adaptive temperature control systems enhance reliability, reduce waste, and support sustainable industrial practices.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2815433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dirty="0"/>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F7F4CBCF-2EA5-5248-B352-49E9FE7B89CF}" type="datetime1">
              <a:rPr lang="en-US" smtClean="0"/>
              <a:t>2/4/2026</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35719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192DDA33-D578-2640-B42E-CEBF81697F81}" type="datetime1">
              <a:rPr lang="en-US" smtClean="0"/>
              <a:t>2/4/2026</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dirty="0"/>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75D6F905-E9A0-F246-B3D1-2727C4EFD37F}" type="datetime1">
              <a:rPr lang="en-US" smtClean="0"/>
              <a:t>2/4/2026</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55872412-C725-2842-8141-6F8DA99B275E}" type="datetime1">
              <a:rPr lang="en-US" smtClean="0"/>
              <a:t>2/4/2026</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93274EE0-8EE6-BB42-BF21-111D3EB8AA70}" type="datetime1">
              <a:rPr lang="en-US" smtClean="0"/>
              <a:t>2/4/2026</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5A7D64F7-0C7B-1B47-9658-E887339B9A70}" type="datetime1">
              <a:rPr lang="en-US" smtClean="0"/>
              <a:t>2/4/2026</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D3CD07D3-1C6A-7243-B247-92FB4862F8B6}" type="datetime1">
              <a:rPr lang="en-US" smtClean="0"/>
              <a:t>2/4/2026</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A6261448-4908-0A47-BB1E-F6B7BED9DDE3}" type="datetime1">
              <a:rPr lang="en-US" smtClean="0"/>
              <a:t>2/4/2026</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52EC4BBC-FFA2-B54E-847D-F2577F1B8D0A}" type="datetime1">
              <a:rPr lang="en-US" smtClean="0"/>
              <a:pPr/>
              <a:t>2/4/2026</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E18E063-8567-3D4A-98A7-68096F5E3E81}" type="datetime1">
              <a:rPr lang="en-US" smtClean="0"/>
              <a:pPr/>
              <a:t>2/4/2026</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520384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dirty="0"/>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48F1EE65-9B75-D34D-9F02-D2E3965E0F0C}" type="datetime1">
              <a:rPr lang="en-US" smtClean="0"/>
              <a:t>2/4/2026</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4880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dirty="0"/>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BCD35447-68C7-CB49-B79C-2828CACD9C53}" type="datetime1">
              <a:rPr lang="en-US" smtClean="0"/>
              <a:t>2/4/2026</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5758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A3F75FBB-52A4-3947-9071-787C670AA4F3}" type="datetime1">
              <a:rPr lang="en-US" smtClean="0"/>
              <a:t>2/4/2026</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2199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13480301-390C-8846-A6E3-CD2894BE139C}" type="datetime1">
              <a:rPr lang="en-US" smtClean="0"/>
              <a:t>2/4/2026</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90355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C275CAB1-537D-AB4A-86AF-498D16CC8BFB}" type="datetime1">
              <a:rPr lang="en-US" smtClean="0"/>
              <a:t>2/4/2026</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C9067C8-B2FA-9242-99D3-2AAAEA57F6E3}" type="datetime1">
              <a:rPr lang="en-US" smtClean="0"/>
              <a:t>2/4/2026</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08959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F2121301-BC9F-2048-8BD9-9D5533C3FEB8}" type="datetime1">
              <a:rPr lang="en-US" smtClean="0"/>
              <a:t>2/4/2026</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190947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dirty="0"/>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B5FC2305-971C-BE4F-9A36-18A81034BC3D}" type="datetime1">
              <a:rPr lang="en-US" smtClean="0"/>
              <a:t>2/4/2026</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6FAC4171-8BCA-1740-A615-A2F6C531D1D6}" type="datetime1">
              <a:rPr lang="en-US" smtClean="0"/>
              <a:t>2/4/2026</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4009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dirty="0"/>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C5987AE8-F78F-CC42-9328-6043D017DE32}" type="datetime1">
              <a:rPr lang="en-US" smtClean="0"/>
              <a:t>2/4/2026</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649CB69A-2A75-F048-B0D8-F5328E5C18F8}" type="datetime1">
              <a:rPr lang="en-US" smtClean="0"/>
              <a:t>2/4/2026</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74191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CB04B35F-5075-784C-9FF4-85B4381265F5}" type="datetime1">
              <a:rPr lang="en-US" smtClean="0"/>
              <a:t>2/4/2026</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462785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D90E99A5-9B5B-654B-AFAE-033D0C138539}" type="datetime1">
              <a:rPr lang="en-US" smtClean="0"/>
              <a:t>2/4/2026</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018FC212-A04D-EC40-A3FF-C37DE82847B2}" type="datetime1">
              <a:rPr lang="en-US" smtClean="0"/>
              <a:t>2/4/2026</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440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BE0F28E2-1197-1343-806E-BC1F6DA16A33}" type="datetime1">
              <a:rPr lang="en-US" smtClean="0"/>
              <a:t>2/4/2026</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BE0F28E2-1197-1343-806E-BC1F6DA16A33}" type="datetime1">
              <a:rPr lang="en-US" smtClean="0"/>
              <a:t>2/4/2026</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6492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3C3C2431-2FCD-D448-9C7B-DAD39E7098D4}" type="datetime1">
              <a:rPr lang="en-US" smtClean="0"/>
              <a:t>2/4/2026</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18303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6AF84008-CECF-4C4E-8814-FA8FA71DAEEA}" type="datetime1">
              <a:rPr lang="en-US" smtClean="0"/>
              <a:t>2/4/2026</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88094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5F3A8F1C-349F-4D40-A069-7D38D41B5261}" type="datetime1">
              <a:rPr lang="en-US" smtClean="0"/>
              <a:t>2/4/2026</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93F60926-2D52-7E43-9B2B-7315B4A2BF0B}" type="datetime1">
              <a:rPr lang="en-US" smtClean="0"/>
              <a:t>2/4/2026</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789889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9B5E51FC-CBC9-9843-92FD-38CACF39D773}" type="datetime1">
              <a:rPr lang="en-US" smtClean="0"/>
              <a:t>2/4/2026</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54042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7B7AA9A6-1052-6144-AEF7-DAB3DC5C1870}" type="datetime1">
              <a:rPr lang="en-US" smtClean="0"/>
              <a:t>2/4/2026</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3FE5D550-C18F-9046-9823-1666101C984D}" type="datetime1">
              <a:rPr lang="en-US" smtClean="0"/>
              <a:t>2/4/2026</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2373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345EA323-74B6-5848-92CE-4C72A64B8493}" type="datetime1">
              <a:rPr lang="en-US" smtClean="0"/>
              <a:t>2/4/2026</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7628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dirty="0"/>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7EB7FF3F-DA9F-314F-9D49-20971D537C61}" type="datetime1">
              <a:rPr lang="en-US" smtClean="0"/>
              <a:t>2/4/2026</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16853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dirty="0"/>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dirty="0"/>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BB684DC2-C5AB-E14B-8633-21D19F683F0B}" type="datetime1">
              <a:rPr lang="en-US" smtClean="0"/>
              <a:pPr/>
              <a:t>2/4/2026</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9195CB68-20BB-7D4A-9E92-9AD71D038F2F}" type="datetime1">
              <a:rPr lang="en-US" smtClean="0"/>
              <a:t>2/4/2026</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dirty="0"/>
              <a:t>##%</a:t>
            </a:r>
          </a:p>
        </p:txBody>
      </p:sp>
    </p:spTree>
    <p:extLst>
      <p:ext uri="{BB962C8B-B14F-4D97-AF65-F5344CB8AC3E}">
        <p14:creationId xmlns:p14="http://schemas.microsoft.com/office/powerpoint/2010/main" val="33919335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dirty="0"/>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dirty="0"/>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AF93496-2377-444C-B645-EBE751409D0E}" type="datetime1">
              <a:rPr lang="en-US" smtClean="0"/>
              <a:t>2/4/2026</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dirty="0"/>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dirty="0"/>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B29FD2E1-2E7E-4E47-A0E4-B8C330155E6A}" type="datetime1">
              <a:rPr lang="en-US" smtClean="0"/>
              <a:pPr/>
              <a:t>2/4/2026</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8156961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EEC1C73B-E8EA-3F4D-BC6B-13568C609C15}" type="datetime1">
              <a:rPr lang="en-US" smtClean="0"/>
              <a:pPr/>
              <a:t>2/4/2026</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196551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60E31574-77A2-5049-8555-8B5875AD8BC3}" type="datetime1">
              <a:rPr lang="en-US" smtClean="0"/>
              <a:t>2/4/2026</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71367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BE0F28E2-1197-1343-806E-BC1F6DA16A33}" type="datetime1">
              <a:rPr lang="en-US" smtClean="0"/>
              <a:t>2/4/2026</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850818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526E19FE-7254-FB46-9FD2-44BC5921542B}" type="datetime1">
              <a:rPr lang="en-US" smtClean="0"/>
              <a:pPr/>
              <a:t>2/4/2026</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6059631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dirty="0"/>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2138E274-D707-074B-90C0-1378B345261A}" type="datetime1">
              <a:rPr lang="en-US" smtClean="0"/>
              <a:t>2/4/2026</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65654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Tree>
    <p:extLst>
      <p:ext uri="{BB962C8B-B14F-4D97-AF65-F5344CB8AC3E}">
        <p14:creationId xmlns:p14="http://schemas.microsoft.com/office/powerpoint/2010/main" val="990762973"/>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88E87FA6-3C50-8748-8507-409D2A1BA905}" type="datetime1">
              <a:rPr lang="en-US" smtClean="0"/>
              <a:t>2/4/2026</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3985406"/>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09DD0BF5-CA27-A04C-967E-C46BC4852727}" type="datetime1">
              <a:rPr lang="en-US" smtClean="0"/>
              <a:pPr/>
              <a:t>2/4/2026</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1044907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67464449-D5FC-7145-944F-5DCEC882B5C4}" type="datetime1">
              <a:rPr lang="en-US" smtClean="0"/>
              <a:pPr/>
              <a:t>2/4/2026</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912705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A4EF2610-7DF8-C942-A8A1-C05E61FE4E13}" type="datetime1">
              <a:rPr lang="en-US" smtClean="0"/>
              <a:t>2/4/2026</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E110005D-EEDD-DA40-A727-ED7897336E79}" type="datetime1">
              <a:rPr lang="en-US" smtClean="0"/>
              <a:t>2/4/2026</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917F45F0-C73C-6741-AD8D-EA52530DA377}" type="datetime1">
              <a:rPr lang="en-US" smtClean="0"/>
              <a:t>2/4/2026</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7E3784C8-F1F9-3A4E-8157-ADC6FC447930}" type="datetime1">
              <a:rPr lang="en-US" smtClean="0"/>
              <a:t>2/4/2026</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b="0" dirty="0"/>
            </a:lvl1pPr>
            <a:lvl2pPr>
              <a:defRPr lang="en-US" b="0" dirty="0"/>
            </a:lvl2pPr>
            <a:lvl3pPr>
              <a:defRPr lang="en-US" b="0" dirty="0"/>
            </a:lvl3pPr>
            <a:lvl4pPr>
              <a:defRPr lang="en-US" b="0" dirty="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2049B5C8-C320-CE42-B783-8C4DFC960665}" type="datetime1">
              <a:rPr lang="en-US" smtClean="0"/>
              <a:t>2/4/2026</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dirty="0"/>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A9226019-33FF-D14C-86DC-8CD2C65E2709}" type="datetime1">
              <a:rPr lang="en-US" smtClean="0"/>
              <a:t>2/4/2026</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37986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endParaRPr lang="en-US" dirty="0"/>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93274EE0-8EE6-BB42-BF21-111D3EB8AA70}" type="datetime1">
              <a:rPr lang="en-US" smtClean="0"/>
              <a:pPr/>
              <a:t>2/4/2026</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7" r:id="rId5"/>
    <p:sldLayoutId id="2147483893" r:id="rId6"/>
    <p:sldLayoutId id="2147483895" r:id="rId7"/>
    <p:sldLayoutId id="2147483896" r:id="rId8"/>
    <p:sldLayoutId id="2147483901" r:id="rId9"/>
    <p:sldLayoutId id="2147483947" r:id="rId10"/>
    <p:sldLayoutId id="2147483902" r:id="rId11"/>
    <p:sldLayoutId id="2147483903" r:id="rId12"/>
    <p:sldLayoutId id="2147483904" r:id="rId13"/>
    <p:sldLayoutId id="2147483905" r:id="rId14"/>
    <p:sldLayoutId id="2147483906" r:id="rId15"/>
    <p:sldLayoutId id="2147483907" r:id="rId16"/>
    <p:sldLayoutId id="2147483908" r:id="rId17"/>
    <p:sldLayoutId id="2147483917" r:id="rId18"/>
    <p:sldLayoutId id="2147483918" r:id="rId19"/>
    <p:sldLayoutId id="2147483919" r:id="rId20"/>
    <p:sldLayoutId id="2147483915" r:id="rId21"/>
    <p:sldLayoutId id="2147483916" r:id="rId22"/>
    <p:sldLayoutId id="2147483913" r:id="rId23"/>
    <p:sldLayoutId id="2147483914" r:id="rId24"/>
    <p:sldLayoutId id="2147483920" r:id="rId25"/>
    <p:sldLayoutId id="2147483921" r:id="rId26"/>
    <p:sldLayoutId id="2147483909" r:id="rId27"/>
    <p:sldLayoutId id="2147483910" r:id="rId28"/>
    <p:sldLayoutId id="2147483922" r:id="rId29"/>
    <p:sldLayoutId id="2147483923" r:id="rId30"/>
    <p:sldLayoutId id="2147483924" r:id="rId31"/>
    <p:sldLayoutId id="2147483911" r:id="rId32"/>
    <p:sldLayoutId id="2147483912" r:id="rId33"/>
    <p:sldLayoutId id="2147483925" r:id="rId34"/>
    <p:sldLayoutId id="2147483926" r:id="rId35"/>
    <p:sldLayoutId id="2147483927" r:id="rId36"/>
    <p:sldLayoutId id="2147483928" r:id="rId37"/>
    <p:sldLayoutId id="2147483929" r:id="rId38"/>
    <p:sldLayoutId id="2147483930" r:id="rId39"/>
    <p:sldLayoutId id="2147483931" r:id="rId40"/>
    <p:sldLayoutId id="2147483932" r:id="rId41"/>
    <p:sldLayoutId id="2147483933" r:id="rId42"/>
    <p:sldLayoutId id="2147483935" r:id="rId43"/>
    <p:sldLayoutId id="2147483936" r:id="rId44"/>
    <p:sldLayoutId id="2147483937" r:id="rId45"/>
    <p:sldLayoutId id="2147483938" r:id="rId46"/>
    <p:sldLayoutId id="2147483945" r:id="rId47"/>
    <p:sldLayoutId id="2147483946" r:id="rId48"/>
    <p:sldLayoutId id="2147483939" r:id="rId49"/>
    <p:sldLayoutId id="2147483940" r:id="rId50"/>
    <p:sldLayoutId id="2147483941" r:id="rId51"/>
    <p:sldLayoutId id="2147483942" r:id="rId52"/>
    <p:sldLayoutId id="2147483943" r:id="rId53"/>
    <p:sldLayoutId id="2147483944" r:id="rId54"/>
  </p:sldLayoutIdLst>
  <p:hf hdr="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4FF97-D888-9B84-A652-841289EC3F01}"/>
              </a:ext>
            </a:extLst>
          </p:cNvPr>
          <p:cNvSpPr>
            <a:spLocks noGrp="1"/>
          </p:cNvSpPr>
          <p:nvPr>
            <p:ph type="ctrTitle"/>
          </p:nvPr>
        </p:nvSpPr>
        <p:spPr>
          <a:xfrm>
            <a:off x="381000" y="1371597"/>
            <a:ext cx="4800600" cy="2845567"/>
          </a:xfrm>
        </p:spPr>
        <p:txBody>
          <a:bodyPr anchor="b">
            <a:normAutofit/>
          </a:bodyPr>
          <a:lstStyle/>
          <a:p>
            <a:r>
              <a:rPr lang="en-US" sz="3700"/>
              <a:t>Temperature Control in Industrial Processes Using Sensors and Programming</a:t>
            </a:r>
          </a:p>
        </p:txBody>
      </p:sp>
      <p:sp>
        <p:nvSpPr>
          <p:cNvPr id="3" name="Subtitle 2">
            <a:extLst>
              <a:ext uri="{FF2B5EF4-FFF2-40B4-BE49-F238E27FC236}">
                <a16:creationId xmlns:a16="http://schemas.microsoft.com/office/drawing/2014/main" id="{67216129-6926-5075-7D5B-4EFECB147C5B}"/>
              </a:ext>
            </a:extLst>
          </p:cNvPr>
          <p:cNvSpPr>
            <a:spLocks noGrp="1"/>
          </p:cNvSpPr>
          <p:nvPr>
            <p:ph type="subTitle" idx="1"/>
          </p:nvPr>
        </p:nvSpPr>
        <p:spPr>
          <a:xfrm>
            <a:off x="381000" y="4363278"/>
            <a:ext cx="4800599" cy="1123122"/>
          </a:xfrm>
        </p:spPr>
        <p:txBody>
          <a:bodyPr>
            <a:normAutofit/>
          </a:bodyPr>
          <a:lstStyle/>
          <a:p>
            <a:r>
              <a:rPr lang="en-US"/>
              <a:t>Automated monitoring for precise thermal management</a:t>
            </a:r>
          </a:p>
        </p:txBody>
      </p:sp>
      <p:pic>
        <p:nvPicPr>
          <p:cNvPr id="7" name="Picture 6" descr="Eye exam equipment">
            <a:extLst>
              <a:ext uri="{FF2B5EF4-FFF2-40B4-BE49-F238E27FC236}">
                <a16:creationId xmlns:a16="http://schemas.microsoft.com/office/drawing/2014/main" id="{6FCB39C8-D1D0-4C23-AECF-99A48114A57C}"/>
              </a:ext>
            </a:extLst>
          </p:cNvPr>
          <p:cNvPicPr>
            <a:picLocks noChangeAspect="1"/>
          </p:cNvPicPr>
          <p:nvPr/>
        </p:nvPicPr>
        <p:blipFill>
          <a:blip r:embed="rId3"/>
          <a:srcRect l="28351" r="20624" b="1"/>
          <a:stretch>
            <a:fillRect/>
          </a:stretch>
        </p:blipFill>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p:spPr>
      </p:pic>
      <p:sp>
        <p:nvSpPr>
          <p:cNvPr id="4" name="Footer Placeholder 3">
            <a:extLst>
              <a:ext uri="{FF2B5EF4-FFF2-40B4-BE49-F238E27FC236}">
                <a16:creationId xmlns:a16="http://schemas.microsoft.com/office/drawing/2014/main" id="{A89098F9-E730-AFCD-AB8C-ACB1D027A939}"/>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FC7B6F9F-482F-FC9F-5D56-9E8A77CFF2F0}"/>
              </a:ext>
            </a:extLst>
          </p:cNvPr>
          <p:cNvSpPr>
            <a:spLocks noGrp="1"/>
          </p:cNvSpPr>
          <p:nvPr>
            <p:ph type="dt" sz="half" idx="16"/>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2/4/2026</a:t>
            </a:fld>
            <a:endParaRPr lang="en-US"/>
          </a:p>
        </p:txBody>
      </p:sp>
      <p:sp>
        <p:nvSpPr>
          <p:cNvPr id="6" name="Slide Number Placeholder 5">
            <a:extLst>
              <a:ext uri="{FF2B5EF4-FFF2-40B4-BE49-F238E27FC236}">
                <a16:creationId xmlns:a16="http://schemas.microsoft.com/office/drawing/2014/main" id="{7CA356D5-53EF-F8E7-ABA0-549BD17682F6}"/>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62408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C09F1-8087-10A1-9931-CD3CA382D3BA}"/>
              </a:ext>
            </a:extLst>
          </p:cNvPr>
          <p:cNvSpPr>
            <a:spLocks noGrp="1"/>
          </p:cNvSpPr>
          <p:nvPr>
            <p:ph type="ctrTitle"/>
          </p:nvPr>
        </p:nvSpPr>
        <p:spPr>
          <a:xfrm>
            <a:off x="381000" y="1600200"/>
            <a:ext cx="11430000" cy="4572000"/>
          </a:xfrm>
        </p:spPr>
        <p:txBody>
          <a:bodyPr anchor="b">
            <a:normAutofit/>
          </a:bodyPr>
          <a:lstStyle/>
          <a:p>
            <a:r>
              <a:rPr lang="en-US"/>
              <a:t>Precision Temperature Control Solutions</a:t>
            </a:r>
          </a:p>
        </p:txBody>
      </p:sp>
      <p:sp>
        <p:nvSpPr>
          <p:cNvPr id="4" name="Footer Placeholder 3">
            <a:extLst>
              <a:ext uri="{FF2B5EF4-FFF2-40B4-BE49-F238E27FC236}">
                <a16:creationId xmlns:a16="http://schemas.microsoft.com/office/drawing/2014/main" id="{43B5819F-2DAA-E802-2275-0D71C8031866}"/>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38E19620-37DE-4C66-9A37-3813124A8697}"/>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2/4/2026</a:t>
            </a:fld>
            <a:endParaRPr lang="en-US"/>
          </a:p>
        </p:txBody>
      </p:sp>
      <p:sp>
        <p:nvSpPr>
          <p:cNvPr id="6" name="Slide Number Placeholder 5">
            <a:extLst>
              <a:ext uri="{FF2B5EF4-FFF2-40B4-BE49-F238E27FC236}">
                <a16:creationId xmlns:a16="http://schemas.microsoft.com/office/drawing/2014/main" id="{CC8EAA33-D539-294A-897F-AA93F65CD10F}"/>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1788357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82EDC-BEB4-BF52-5347-3CDECED8DC36}"/>
              </a:ext>
            </a:extLst>
          </p:cNvPr>
          <p:cNvSpPr>
            <a:spLocks noGrp="1"/>
          </p:cNvSpPr>
          <p:nvPr>
            <p:ph type="title"/>
          </p:nvPr>
        </p:nvSpPr>
        <p:spPr>
          <a:xfrm>
            <a:off x="381000" y="709099"/>
            <a:ext cx="4572000" cy="1348301"/>
          </a:xfrm>
        </p:spPr>
        <p:txBody>
          <a:bodyPr anchor="t">
            <a:normAutofit/>
          </a:bodyPr>
          <a:lstStyle/>
          <a:p>
            <a:r>
              <a:rPr lang="en-US"/>
              <a:t>Overview of Temperature Control Challenges</a:t>
            </a:r>
          </a:p>
        </p:txBody>
      </p:sp>
      <p:pic>
        <p:nvPicPr>
          <p:cNvPr id="8" name="Content Placeholder 7" descr="Biomedical engineering robot in a lab">
            <a:extLst>
              <a:ext uri="{FF2B5EF4-FFF2-40B4-BE49-F238E27FC236}">
                <a16:creationId xmlns:a16="http://schemas.microsoft.com/office/drawing/2014/main" id="{4AFAC962-2D7F-43B8-934B-64FF7A446138}"/>
              </a:ext>
            </a:extLst>
          </p:cNvPr>
          <p:cNvPicPr>
            <a:picLocks noGrp="1" noChangeAspect="1"/>
          </p:cNvPicPr>
          <p:nvPr>
            <p:ph type="pic" sz="quarter" idx="15"/>
          </p:nvPr>
        </p:nvPicPr>
        <p:blipFill>
          <a:blip r:embed="rId3"/>
          <a:srcRect r="14169" b="-2"/>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C1116E12-482D-5AFA-811B-D53BB9D9B86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Limitations of Traditional Control</a:t>
            </a:r>
          </a:p>
          <a:p>
            <a:pPr marL="0" lvl="1" indent="0">
              <a:buFont typeface="Arial" panose="020B0604020202020204" pitchFamily="34" charset="0"/>
              <a:buNone/>
            </a:pPr>
            <a:r>
              <a:t>Conventional temperature systems lack adaptive feedback, causing poor precision and unstable thermal conditions.</a:t>
            </a:r>
            <a:endParaRPr lang="en-US"/>
          </a:p>
          <a:p>
            <a:pPr marL="0" indent="0">
              <a:spcBef>
                <a:spcPts val="2500"/>
              </a:spcBef>
              <a:buFont typeface="Arial" panose="020B0604020202020204" pitchFamily="34" charset="0"/>
              <a:buNone/>
            </a:pPr>
            <a:r>
              <a:rPr lang="en-US" b="1"/>
              <a:t>Impact of Environmental Variations</a:t>
            </a:r>
          </a:p>
          <a:p>
            <a:pPr marL="0" lvl="1" indent="0">
              <a:buFont typeface="Arial" panose="020B0604020202020204" pitchFamily="34" charset="0"/>
              <a:buNone/>
            </a:pPr>
            <a:r>
              <a:t>Fluctuations in raw materials and ambient conditions disrupt heat transfer and process stability.</a:t>
            </a:r>
            <a:endParaRPr lang="en-US"/>
          </a:p>
          <a:p>
            <a:pPr marL="0" indent="0">
              <a:spcBef>
                <a:spcPts val="2500"/>
              </a:spcBef>
              <a:buFont typeface="Arial" panose="020B0604020202020204" pitchFamily="34" charset="0"/>
              <a:buNone/>
            </a:pPr>
            <a:r>
              <a:rPr lang="en-US" b="1"/>
              <a:t>Challenges of Manual Calibration</a:t>
            </a:r>
          </a:p>
          <a:p>
            <a:pPr marL="0" lvl="1" indent="0">
              <a:buFont typeface="Arial" panose="020B0604020202020204" pitchFamily="34" charset="0"/>
              <a:buNone/>
            </a:pPr>
            <a:r>
              <a:t>Manual adjustments introduce human error and reduce responsiveness in modern automated environments.</a:t>
            </a:r>
            <a:endParaRPr lang="en-US"/>
          </a:p>
          <a:p>
            <a:pPr marL="0" indent="0">
              <a:spcBef>
                <a:spcPts val="2500"/>
              </a:spcBef>
              <a:buFont typeface="Arial" panose="020B0604020202020204" pitchFamily="34" charset="0"/>
              <a:buNone/>
            </a:pPr>
            <a:r>
              <a:rPr lang="en-US" b="1"/>
              <a:t>Advances with Automated Control</a:t>
            </a:r>
          </a:p>
          <a:p>
            <a:pPr marL="0" lvl="1" indent="0">
              <a:buFont typeface="Arial" panose="020B0604020202020204" pitchFamily="34" charset="0"/>
              <a:buNone/>
            </a:pPr>
            <a:r>
              <a:t>Smart sensors and control loops enable real-time adjustments, improving accuracy and energy efficiency.</a:t>
            </a:r>
            <a:endParaRPr lang="en-US"/>
          </a:p>
        </p:txBody>
      </p:sp>
      <p:sp>
        <p:nvSpPr>
          <p:cNvPr id="5" name="Footer Placeholder 4">
            <a:extLst>
              <a:ext uri="{FF2B5EF4-FFF2-40B4-BE49-F238E27FC236}">
                <a16:creationId xmlns:a16="http://schemas.microsoft.com/office/drawing/2014/main" id="{845F2C51-1E80-D0DC-5171-2CD357901F70}"/>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F95A19DF-A14F-3CAC-5FE8-10891754ED8F}"/>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2/4/2026</a:t>
            </a:fld>
            <a:endParaRPr lang="en-US"/>
          </a:p>
        </p:txBody>
      </p:sp>
      <p:sp>
        <p:nvSpPr>
          <p:cNvPr id="7" name="Slide Number Placeholder 6">
            <a:extLst>
              <a:ext uri="{FF2B5EF4-FFF2-40B4-BE49-F238E27FC236}">
                <a16:creationId xmlns:a16="http://schemas.microsoft.com/office/drawing/2014/main" id="{9F705FAB-25D7-A910-EB40-511A990BC674}"/>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2306357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6C10B-C65A-A006-3571-53272D3DEF98}"/>
              </a:ext>
            </a:extLst>
          </p:cNvPr>
          <p:cNvSpPr>
            <a:spLocks noGrp="1"/>
          </p:cNvSpPr>
          <p:nvPr>
            <p:ph type="title"/>
          </p:nvPr>
        </p:nvSpPr>
        <p:spPr>
          <a:xfrm>
            <a:off x="4953001" y="685801"/>
            <a:ext cx="6857999" cy="914400"/>
          </a:xfrm>
        </p:spPr>
        <p:txBody>
          <a:bodyPr anchor="t">
            <a:normAutofit/>
          </a:bodyPr>
          <a:lstStyle/>
          <a:p>
            <a:r>
              <a:rPr lang="en-US"/>
              <a:t>Role of Sensors in Improving Accuracy</a:t>
            </a:r>
          </a:p>
        </p:txBody>
      </p:sp>
      <p:pic>
        <p:nvPicPr>
          <p:cNvPr id="8" name="Content Placeholder 7" descr="Diesel engine testing station.">
            <a:extLst>
              <a:ext uri="{FF2B5EF4-FFF2-40B4-BE49-F238E27FC236}">
                <a16:creationId xmlns:a16="http://schemas.microsoft.com/office/drawing/2014/main" id="{4E9405D6-0D0C-4F4B-9C23-B865BA55F92F}"/>
              </a:ext>
            </a:extLst>
          </p:cNvPr>
          <p:cNvPicPr>
            <a:picLocks noGrp="1" noChangeAspect="1"/>
          </p:cNvPicPr>
          <p:nvPr>
            <p:ph type="pic" sz="quarter" idx="15"/>
          </p:nvPr>
        </p:nvPicPr>
        <p:blipFill>
          <a:blip r:embed="rId3"/>
          <a:srcRect l="13845" r="8551" b="3"/>
          <a:stretch>
            <a:fillRect/>
          </a:stretch>
        </p:blipFill>
        <p:spPr>
          <a:xfrm>
            <a:off x="152400" y="159765"/>
            <a:ext cx="3657600" cy="6545835"/>
          </a:xfrm>
        </p:spPr>
      </p:pic>
      <p:sp>
        <p:nvSpPr>
          <p:cNvPr id="4" name="Content Placeholder 3">
            <a:extLst>
              <a:ext uri="{FF2B5EF4-FFF2-40B4-BE49-F238E27FC236}">
                <a16:creationId xmlns:a16="http://schemas.microsoft.com/office/drawing/2014/main" id="{3EA5888E-7F7B-4326-DA4C-7150151B5C9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53000" y="1760954"/>
            <a:ext cx="6858000" cy="4411245"/>
          </a:xfrm>
        </p:spPr>
        <p:txBody>
          <a:bodyPr>
            <a:normAutofit/>
          </a:bodyPr>
          <a:lstStyle/>
          <a:p>
            <a:pPr marL="0" indent="0">
              <a:spcBef>
                <a:spcPts val="2500"/>
              </a:spcBef>
              <a:buFont typeface="Arial" panose="020B0604020202020204" pitchFamily="34" charset="0"/>
              <a:buNone/>
            </a:pPr>
            <a:r>
              <a:rPr lang="en-US" b="1"/>
              <a:t>Accurate Temperature Monitoring</a:t>
            </a:r>
          </a:p>
          <a:p>
            <a:pPr marL="0" lvl="1" indent="0">
              <a:buFont typeface="Arial" panose="020B0604020202020204" pitchFamily="34" charset="0"/>
              <a:buNone/>
            </a:pPr>
            <a:r>
              <a:t>Modern sensors provide continuous, high-resolution temperature data even in harsh industrial environments.</a:t>
            </a:r>
            <a:endParaRPr lang="en-US"/>
          </a:p>
          <a:p>
            <a:pPr marL="0" indent="0">
              <a:spcBef>
                <a:spcPts val="2500"/>
              </a:spcBef>
              <a:buFont typeface="Arial" panose="020B0604020202020204" pitchFamily="34" charset="0"/>
              <a:buNone/>
            </a:pPr>
            <a:r>
              <a:rPr lang="en-US" b="1"/>
              <a:t>Real-Time Response</a:t>
            </a:r>
          </a:p>
          <a:p>
            <a:pPr marL="0" lvl="1" indent="0">
              <a:buFont typeface="Arial" panose="020B0604020202020204" pitchFamily="34" charset="0"/>
              <a:buNone/>
            </a:pPr>
            <a:r>
              <a:t>Fast sensor response times allow immediate detection and correction of temperature deviations.</a:t>
            </a:r>
            <a:endParaRPr lang="en-US"/>
          </a:p>
          <a:p>
            <a:pPr marL="0" indent="0">
              <a:spcBef>
                <a:spcPts val="2500"/>
              </a:spcBef>
              <a:buFont typeface="Arial" panose="020B0604020202020204" pitchFamily="34" charset="0"/>
              <a:buNone/>
            </a:pPr>
            <a:r>
              <a:rPr lang="en-US" b="1"/>
              <a:t>Integration and Data Transmission</a:t>
            </a:r>
          </a:p>
          <a:p>
            <a:pPr marL="0" lvl="1" indent="0">
              <a:buFont typeface="Arial" panose="020B0604020202020204" pitchFamily="34" charset="0"/>
              <a:buNone/>
            </a:pPr>
            <a:r>
              <a:t>Advanced sensors support digital communication protocols for seamless integration and data sharing.</a:t>
            </a:r>
            <a:endParaRPr lang="en-US"/>
          </a:p>
          <a:p>
            <a:pPr marL="0" indent="0">
              <a:spcBef>
                <a:spcPts val="2500"/>
              </a:spcBef>
              <a:buFont typeface="Arial" panose="020B0604020202020204" pitchFamily="34" charset="0"/>
              <a:buNone/>
            </a:pPr>
            <a:r>
              <a:rPr lang="en-US" b="1"/>
              <a:t>Spatial Temperature Mapping</a:t>
            </a:r>
          </a:p>
          <a:p>
            <a:pPr marL="0" lvl="1" indent="0">
              <a:buFont typeface="Arial" panose="020B0604020202020204" pitchFamily="34" charset="0"/>
              <a:buNone/>
            </a:pPr>
            <a:r>
              <a:t>Sensor networks enable mapping of temperature across equipment to detect hotspots and uneven heating.</a:t>
            </a:r>
            <a:endParaRPr lang="en-US"/>
          </a:p>
        </p:txBody>
      </p:sp>
      <p:sp>
        <p:nvSpPr>
          <p:cNvPr id="5" name="Footer Placeholder 4">
            <a:extLst>
              <a:ext uri="{FF2B5EF4-FFF2-40B4-BE49-F238E27FC236}">
                <a16:creationId xmlns:a16="http://schemas.microsoft.com/office/drawing/2014/main" id="{0C6D3B19-9733-0EC4-6DE3-3D537F4C23DF}"/>
              </a:ext>
            </a:extLst>
          </p:cNvPr>
          <p:cNvSpPr>
            <a:spLocks noGrp="1"/>
          </p:cNvSpPr>
          <p:nvPr>
            <p:ph type="ftr" sz="quarter" idx="17"/>
          </p:nvPr>
        </p:nvSpPr>
        <p:spPr>
          <a:xfrm>
            <a:off x="152400" y="6347057"/>
            <a:ext cx="16002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62DF2C36-DD1D-FA74-2065-6527BA824EC5}"/>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2/4/2026</a:t>
            </a:fld>
            <a:endParaRPr lang="en-US"/>
          </a:p>
        </p:txBody>
      </p:sp>
      <p:sp>
        <p:nvSpPr>
          <p:cNvPr id="7" name="Slide Number Placeholder 6">
            <a:extLst>
              <a:ext uri="{FF2B5EF4-FFF2-40B4-BE49-F238E27FC236}">
                <a16:creationId xmlns:a16="http://schemas.microsoft.com/office/drawing/2014/main" id="{4AEE0FA7-C062-4E35-7AEB-A9E8E4A30100}"/>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1082446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0E858-ABDF-4360-C2F0-7E0A666663BC}"/>
              </a:ext>
            </a:extLst>
          </p:cNvPr>
          <p:cNvSpPr>
            <a:spLocks noGrp="1"/>
          </p:cNvSpPr>
          <p:nvPr>
            <p:ph type="title"/>
          </p:nvPr>
        </p:nvSpPr>
        <p:spPr>
          <a:xfrm>
            <a:off x="381001" y="685801"/>
            <a:ext cx="6857999" cy="914400"/>
          </a:xfrm>
        </p:spPr>
        <p:txBody>
          <a:bodyPr anchor="t">
            <a:normAutofit/>
          </a:bodyPr>
          <a:lstStyle/>
          <a:p>
            <a:r>
              <a:rPr lang="en-US"/>
              <a:t>Programming for Adaptive Temperature Control</a:t>
            </a:r>
          </a:p>
        </p:txBody>
      </p:sp>
      <p:sp>
        <p:nvSpPr>
          <p:cNvPr id="4" name="Content Placeholder 3">
            <a:extLst>
              <a:ext uri="{FF2B5EF4-FFF2-40B4-BE49-F238E27FC236}">
                <a16:creationId xmlns:a16="http://schemas.microsoft.com/office/drawing/2014/main" id="{C6419A31-317F-8591-70EA-C9E2CB142C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760954"/>
            <a:ext cx="6858000" cy="4411245"/>
          </a:xfrm>
        </p:spPr>
        <p:txBody>
          <a:bodyPr>
            <a:normAutofit/>
          </a:bodyPr>
          <a:lstStyle/>
          <a:p>
            <a:pPr marL="0" indent="0">
              <a:spcBef>
                <a:spcPts val="2500"/>
              </a:spcBef>
              <a:buFont typeface="Arial" panose="020B0604020202020204" pitchFamily="34" charset="0"/>
              <a:buNone/>
            </a:pPr>
            <a:r>
              <a:rPr lang="en-US" b="1"/>
              <a:t>Role of Programming</a:t>
            </a:r>
          </a:p>
          <a:p>
            <a:pPr marL="0" lvl="1" indent="0">
              <a:buFont typeface="Arial" panose="020B0604020202020204" pitchFamily="34" charset="0"/>
              <a:buNone/>
            </a:pPr>
            <a:r>
              <a:t>Programming enables adaptive feedback by processing sensor data and controlling heating or cooling devices in real-time.</a:t>
            </a:r>
            <a:endParaRPr lang="en-US"/>
          </a:p>
          <a:p>
            <a:pPr marL="0" indent="0">
              <a:spcBef>
                <a:spcPts val="2500"/>
              </a:spcBef>
              <a:buFont typeface="Arial" panose="020B0604020202020204" pitchFamily="34" charset="0"/>
              <a:buNone/>
            </a:pPr>
            <a:r>
              <a:rPr lang="en-US" b="1"/>
              <a:t>Control Algorithms</a:t>
            </a:r>
          </a:p>
          <a:p>
            <a:pPr marL="0" lvl="1" indent="0">
              <a:buFont typeface="Arial" panose="020B0604020202020204" pitchFamily="34" charset="0"/>
              <a:buNone/>
            </a:pPr>
            <a:r>
              <a:t>Algorithms like PID, fuzzy logic, and AI-based systems optimize temperature regulation and system stability dynamically.</a:t>
            </a:r>
            <a:endParaRPr lang="en-US"/>
          </a:p>
          <a:p>
            <a:pPr marL="0" indent="0">
              <a:spcBef>
                <a:spcPts val="2500"/>
              </a:spcBef>
              <a:buFont typeface="Arial" panose="020B0604020202020204" pitchFamily="34" charset="0"/>
              <a:buNone/>
            </a:pPr>
            <a:r>
              <a:rPr lang="en-US" b="1"/>
              <a:t>System Integration and Monitoring</a:t>
            </a:r>
          </a:p>
          <a:p>
            <a:pPr marL="0" lvl="1" indent="0">
              <a:buFont typeface="Arial" panose="020B0604020202020204" pitchFamily="34" charset="0"/>
              <a:buNone/>
            </a:pPr>
            <a:r>
              <a:t>Programming allows integration with supervisory systems, data logging, remote monitoring, and safety protocols.</a:t>
            </a:r>
            <a:endParaRPr lang="en-US"/>
          </a:p>
          <a:p>
            <a:pPr marL="0" indent="0">
              <a:spcBef>
                <a:spcPts val="2500"/>
              </a:spcBef>
              <a:buFont typeface="Arial" panose="020B0604020202020204" pitchFamily="34" charset="0"/>
              <a:buNone/>
            </a:pPr>
            <a:r>
              <a:rPr lang="en-US" b="1"/>
              <a:t>Predictive Maintenance</a:t>
            </a:r>
          </a:p>
          <a:p>
            <a:pPr marL="0" lvl="1" indent="0">
              <a:buFont typeface="Arial" panose="020B0604020202020204" pitchFamily="34" charset="0"/>
              <a:buNone/>
            </a:pPr>
            <a:r>
              <a:t>Predictive algorithms anticipate temperature deviations, improving responsiveness and reducing errors and energy consumption.</a:t>
            </a:r>
            <a:endParaRPr lang="en-US"/>
          </a:p>
        </p:txBody>
      </p:sp>
      <p:pic>
        <p:nvPicPr>
          <p:cNvPr id="8" name="Content Placeholder 7" descr="Touch screen">
            <a:extLst>
              <a:ext uri="{FF2B5EF4-FFF2-40B4-BE49-F238E27FC236}">
                <a16:creationId xmlns:a16="http://schemas.microsoft.com/office/drawing/2014/main" id="{774C720D-9459-4CBB-B5EE-EED02B9FCAA2}"/>
              </a:ext>
            </a:extLst>
          </p:cNvPr>
          <p:cNvPicPr>
            <a:picLocks noGrp="1" noChangeAspect="1"/>
          </p:cNvPicPr>
          <p:nvPr>
            <p:ph type="pic" sz="quarter" idx="15"/>
          </p:nvPr>
        </p:nvPicPr>
        <p:blipFill>
          <a:blip r:embed="rId3"/>
          <a:srcRect l="5144" r="57697" b="-2"/>
          <a:stretch>
            <a:fillRect/>
          </a:stretch>
        </p:blipFill>
        <p:spPr>
          <a:xfrm>
            <a:off x="8382000" y="152400"/>
            <a:ext cx="3657600" cy="6545835"/>
          </a:xfrm>
        </p:spPr>
      </p:pic>
      <p:sp>
        <p:nvSpPr>
          <p:cNvPr id="5" name="Footer Placeholder 4">
            <a:extLst>
              <a:ext uri="{FF2B5EF4-FFF2-40B4-BE49-F238E27FC236}">
                <a16:creationId xmlns:a16="http://schemas.microsoft.com/office/drawing/2014/main" id="{48AB6AA2-CD42-28D5-B7FB-CD8B503BE486}"/>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0394C14D-06FF-0CB9-B800-321898D92731}"/>
              </a:ext>
            </a:extLst>
          </p:cNvPr>
          <p:cNvSpPr>
            <a:spLocks noGrp="1"/>
          </p:cNvSpPr>
          <p:nvPr>
            <p:ph type="dt" sz="half" idx="16"/>
          </p:nvPr>
        </p:nvSpPr>
        <p:spPr>
          <a:xfrm>
            <a:off x="5819829" y="6340475"/>
            <a:ext cx="1800171" cy="365125"/>
          </a:xfrm>
        </p:spPr>
        <p:txBody>
          <a:bodyPr anchor="ctr">
            <a:normAutofit/>
          </a:bodyPr>
          <a:lstStyle/>
          <a:p>
            <a:pPr>
              <a:spcAft>
                <a:spcPts val="600"/>
              </a:spcAft>
            </a:pPr>
            <a:fld id="{A4EF2610-7DF8-C942-A8A1-C05E61FE4E13}" type="datetime1">
              <a:rPr lang="en-US" smtClean="0"/>
              <a:pPr>
                <a:spcAft>
                  <a:spcPts val="600"/>
                </a:spcAft>
              </a:pPr>
              <a:t>2/4/2026</a:t>
            </a:fld>
            <a:endParaRPr lang="en-US"/>
          </a:p>
        </p:txBody>
      </p:sp>
      <p:sp>
        <p:nvSpPr>
          <p:cNvPr id="7" name="Slide Number Placeholder 6">
            <a:extLst>
              <a:ext uri="{FF2B5EF4-FFF2-40B4-BE49-F238E27FC236}">
                <a16:creationId xmlns:a16="http://schemas.microsoft.com/office/drawing/2014/main" id="{4D14B1CD-3C5A-D61F-FFB6-C828C4029DD0}"/>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Tree>
    <p:extLst>
      <p:ext uri="{BB962C8B-B14F-4D97-AF65-F5344CB8AC3E}">
        <p14:creationId xmlns:p14="http://schemas.microsoft.com/office/powerpoint/2010/main" val="1787761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9EE-7E17-3788-2839-AB30ADC7F28D}"/>
              </a:ext>
            </a:extLst>
          </p:cNvPr>
          <p:cNvSpPr>
            <a:spLocks noGrp="1"/>
          </p:cNvSpPr>
          <p:nvPr>
            <p:ph type="title"/>
          </p:nvPr>
        </p:nvSpPr>
        <p:spPr>
          <a:xfrm>
            <a:off x="381000" y="709099"/>
            <a:ext cx="4572000" cy="1348301"/>
          </a:xfrm>
        </p:spPr>
        <p:txBody>
          <a:bodyPr anchor="t">
            <a:normAutofit/>
          </a:bodyPr>
          <a:lstStyle/>
          <a:p>
            <a:r>
              <a:rPr lang="en-US"/>
              <a:t>Enhanced Precision Through Integrated Systems</a:t>
            </a:r>
          </a:p>
        </p:txBody>
      </p:sp>
      <p:pic>
        <p:nvPicPr>
          <p:cNvPr id="8" name="Content Placeholder 7" descr="Artificial intelligence recognition on warehouse security computer screen. Machine learning person and object detection. The GUI and code are my work.">
            <a:extLst>
              <a:ext uri="{FF2B5EF4-FFF2-40B4-BE49-F238E27FC236}">
                <a16:creationId xmlns:a16="http://schemas.microsoft.com/office/drawing/2014/main" id="{A07EC162-4B45-45AA-A3B0-4B3DC8FDF74B}"/>
              </a:ext>
            </a:extLst>
          </p:cNvPr>
          <p:cNvPicPr>
            <a:picLocks noGrp="1" noChangeAspect="1"/>
          </p:cNvPicPr>
          <p:nvPr>
            <p:ph type="pic" sz="quarter" idx="15"/>
          </p:nvPr>
        </p:nvPicPr>
        <p:blipFill>
          <a:blip r:embed="rId3"/>
          <a:srcRect r="3884" b="-1"/>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E5A3F01F-7941-878D-F68D-2BE6BE09234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Closed-Loop Control</a:t>
            </a:r>
          </a:p>
          <a:p>
            <a:pPr marL="0" lvl="1" indent="0">
              <a:buFont typeface="Arial" panose="020B0604020202020204" pitchFamily="34" charset="0"/>
              <a:buNone/>
            </a:pPr>
            <a:r>
              <a:t>Sensors provide real-time data to controllers enabling precise temperature regulation through closed-loop control.</a:t>
            </a:r>
            <a:endParaRPr lang="en-US"/>
          </a:p>
          <a:p>
            <a:pPr marL="0" indent="0">
              <a:spcBef>
                <a:spcPts val="2500"/>
              </a:spcBef>
              <a:buFont typeface="Arial" panose="020B0604020202020204" pitchFamily="34" charset="0"/>
              <a:buNone/>
            </a:pPr>
            <a:r>
              <a:rPr lang="en-US" b="1"/>
              <a:t>Automation and Error Reduction</a:t>
            </a:r>
          </a:p>
          <a:p>
            <a:pPr marL="0" lvl="1" indent="0">
              <a:buFont typeface="Arial" panose="020B0604020202020204" pitchFamily="34" charset="0"/>
              <a:buNone/>
            </a:pPr>
            <a:r>
              <a:t>Integrated systems automate temperature management, minimizing manual intervention and reducing human error risks.</a:t>
            </a:r>
            <a:endParaRPr lang="en-US"/>
          </a:p>
          <a:p>
            <a:pPr marL="0" indent="0">
              <a:spcBef>
                <a:spcPts val="2500"/>
              </a:spcBef>
              <a:buFont typeface="Arial" panose="020B0604020202020204" pitchFamily="34" charset="0"/>
              <a:buNone/>
            </a:pPr>
            <a:r>
              <a:rPr lang="en-US" b="1"/>
              <a:t>Advanced Safety Features</a:t>
            </a:r>
          </a:p>
          <a:p>
            <a:pPr marL="0" lvl="1" indent="0">
              <a:buFont typeface="Arial" panose="020B0604020202020204" pitchFamily="34" charset="0"/>
              <a:buNone/>
            </a:pPr>
            <a:r>
              <a:t>Systems include alarm triggers, safety shutdowns, predictive maintenance, and analytics to improve safety and efficiency.</a:t>
            </a:r>
            <a:endParaRPr lang="en-US"/>
          </a:p>
          <a:p>
            <a:pPr marL="0" indent="0">
              <a:spcBef>
                <a:spcPts val="2500"/>
              </a:spcBef>
              <a:buFont typeface="Arial" panose="020B0604020202020204" pitchFamily="34" charset="0"/>
              <a:buNone/>
            </a:pPr>
            <a:r>
              <a:rPr lang="en-US" b="1"/>
              <a:t>Foundation for Smart Factories</a:t>
            </a:r>
          </a:p>
          <a:p>
            <a:pPr marL="0" lvl="1" indent="0">
              <a:buFont typeface="Arial" panose="020B0604020202020204" pitchFamily="34" charset="0"/>
              <a:buNone/>
            </a:pPr>
            <a:r>
              <a:t>Integrated sensor-programmed systems are essential for digital manufacturing and modern smart factory frameworks.</a:t>
            </a:r>
            <a:endParaRPr lang="en-US"/>
          </a:p>
        </p:txBody>
      </p:sp>
      <p:sp>
        <p:nvSpPr>
          <p:cNvPr id="5" name="Footer Placeholder 4">
            <a:extLst>
              <a:ext uri="{FF2B5EF4-FFF2-40B4-BE49-F238E27FC236}">
                <a16:creationId xmlns:a16="http://schemas.microsoft.com/office/drawing/2014/main" id="{2E3B8356-A28A-7ED0-6E50-B509D4E68D16}"/>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E8B0D425-9A19-23A4-B327-870017165A12}"/>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2/4/2026</a:t>
            </a:fld>
            <a:endParaRPr lang="en-US"/>
          </a:p>
        </p:txBody>
      </p:sp>
      <p:sp>
        <p:nvSpPr>
          <p:cNvPr id="7" name="Slide Number Placeholder 6">
            <a:extLst>
              <a:ext uri="{FF2B5EF4-FFF2-40B4-BE49-F238E27FC236}">
                <a16:creationId xmlns:a16="http://schemas.microsoft.com/office/drawing/2014/main" id="{CBA07155-8F3B-2AA9-59E9-1887631A3440}"/>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Tree>
    <p:extLst>
      <p:ext uri="{BB962C8B-B14F-4D97-AF65-F5344CB8AC3E}">
        <p14:creationId xmlns:p14="http://schemas.microsoft.com/office/powerpoint/2010/main" val="32632421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F658A-5D6E-4F8A-CCD5-142B98CED4B6}"/>
              </a:ext>
            </a:extLst>
          </p:cNvPr>
          <p:cNvSpPr>
            <a:spLocks noGrp="1"/>
          </p:cNvSpPr>
          <p:nvPr>
            <p:ph type="title"/>
          </p:nvPr>
        </p:nvSpPr>
        <p:spPr>
          <a:xfrm>
            <a:off x="381000" y="709099"/>
            <a:ext cx="4572000" cy="1348301"/>
          </a:xfrm>
        </p:spPr>
        <p:txBody>
          <a:bodyPr anchor="t">
            <a:normAutofit/>
          </a:bodyPr>
          <a:lstStyle/>
          <a:p>
            <a:r>
              <a:rPr lang="en-US"/>
              <a:t>Benefits and Outcomes of Adaptive Control Mechanisms</a:t>
            </a:r>
          </a:p>
        </p:txBody>
      </p:sp>
      <p:pic>
        <p:nvPicPr>
          <p:cNvPr id="8" name="Content Placeholder 7" descr="Control panel with buttons and indicators - engineering interior.">
            <a:extLst>
              <a:ext uri="{FF2B5EF4-FFF2-40B4-BE49-F238E27FC236}">
                <a16:creationId xmlns:a16="http://schemas.microsoft.com/office/drawing/2014/main" id="{1B8E586B-2416-41A9-9CB9-2BD0412A510C}"/>
              </a:ext>
            </a:extLst>
          </p:cNvPr>
          <p:cNvPicPr>
            <a:picLocks noGrp="1" noChangeAspect="1"/>
          </p:cNvPicPr>
          <p:nvPr>
            <p:ph type="pic" sz="quarter" idx="15"/>
          </p:nvPr>
        </p:nvPicPr>
        <p:blipFill>
          <a:blip r:embed="rId3"/>
          <a:srcRect r="14490" b="-3"/>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25B03C51-2A25-CEA4-6973-DCF6C4F4F5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Improved Precision</a:t>
            </a:r>
          </a:p>
          <a:p>
            <a:pPr marL="0" lvl="1" indent="0">
              <a:buFont typeface="Arial" panose="020B0604020202020204" pitchFamily="34" charset="0"/>
              <a:buNone/>
            </a:pPr>
            <a:r>
              <a:t>Adaptive feedback mechanisms maintain temperature within tight ranges, ensuring product quality.</a:t>
            </a:r>
            <a:endParaRPr lang="en-US"/>
          </a:p>
          <a:p>
            <a:pPr marL="0" indent="0">
              <a:spcBef>
                <a:spcPts val="2500"/>
              </a:spcBef>
              <a:buFont typeface="Arial" panose="020B0604020202020204" pitchFamily="34" charset="0"/>
              <a:buNone/>
            </a:pPr>
            <a:r>
              <a:rPr lang="en-US" b="1"/>
              <a:t>Enhanced Industrial Safety</a:t>
            </a:r>
          </a:p>
          <a:p>
            <a:pPr marL="0" lvl="1" indent="0">
              <a:buFont typeface="Arial" panose="020B0604020202020204" pitchFamily="34" charset="0"/>
              <a:buNone/>
            </a:pPr>
            <a:r>
              <a:t>Systems detect abnormal temperature rises and trigger emergency shutdowns to prevent accidents.</a:t>
            </a:r>
            <a:endParaRPr lang="en-US"/>
          </a:p>
          <a:p>
            <a:pPr marL="0" indent="0">
              <a:spcBef>
                <a:spcPts val="2500"/>
              </a:spcBef>
              <a:buFont typeface="Arial" panose="020B0604020202020204" pitchFamily="34" charset="0"/>
              <a:buNone/>
            </a:pPr>
            <a:r>
              <a:rPr lang="en-US" b="1"/>
              <a:t>Energy Efficiency</a:t>
            </a:r>
          </a:p>
          <a:p>
            <a:pPr marL="0" lvl="1" indent="0">
              <a:buFont typeface="Arial" panose="020B0604020202020204" pitchFamily="34" charset="0"/>
              <a:buNone/>
            </a:pPr>
            <a:r>
              <a:t>Control systems optimize power usage by adjusting to real-time temperature needs, reducing waste.</a:t>
            </a:r>
            <a:endParaRPr lang="en-US"/>
          </a:p>
          <a:p>
            <a:pPr marL="0" indent="0">
              <a:spcBef>
                <a:spcPts val="2500"/>
              </a:spcBef>
              <a:buFont typeface="Arial" panose="020B0604020202020204" pitchFamily="34" charset="0"/>
              <a:buNone/>
            </a:pPr>
            <a:r>
              <a:rPr lang="en-US" b="1"/>
              <a:t>Maintenance and Productivity</a:t>
            </a:r>
          </a:p>
          <a:p>
            <a:pPr marL="0" lvl="1" indent="0">
              <a:buFont typeface="Arial" panose="020B0604020202020204" pitchFamily="34" charset="0"/>
              <a:buNone/>
            </a:pPr>
            <a:r>
              <a:t>Early detection of equipment failure reduces maintenance costs and improves operational uptime.</a:t>
            </a:r>
            <a:endParaRPr lang="en-US"/>
          </a:p>
        </p:txBody>
      </p:sp>
      <p:sp>
        <p:nvSpPr>
          <p:cNvPr id="5" name="Footer Placeholder 4">
            <a:extLst>
              <a:ext uri="{FF2B5EF4-FFF2-40B4-BE49-F238E27FC236}">
                <a16:creationId xmlns:a16="http://schemas.microsoft.com/office/drawing/2014/main" id="{D5056172-73CC-991C-EA99-585F63AF6A76}"/>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7E7CE87-0289-39A3-7D9A-516930CFAFFD}"/>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2/4/2026</a:t>
            </a:fld>
            <a:endParaRPr lang="en-US"/>
          </a:p>
        </p:txBody>
      </p:sp>
      <p:sp>
        <p:nvSpPr>
          <p:cNvPr id="7" name="Slide Number Placeholder 6">
            <a:extLst>
              <a:ext uri="{FF2B5EF4-FFF2-40B4-BE49-F238E27FC236}">
                <a16:creationId xmlns:a16="http://schemas.microsoft.com/office/drawing/2014/main" id="{6B3934F7-E193-9BC4-7F9C-922DD7B851C7}"/>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Tree>
    <p:extLst>
      <p:ext uri="{BB962C8B-B14F-4D97-AF65-F5344CB8AC3E}">
        <p14:creationId xmlns:p14="http://schemas.microsoft.com/office/powerpoint/2010/main" val="3696807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Custom 78">
      <a:majorFont>
        <a:latin typeface="Biome"/>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4</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Bubbleform</vt:lpstr>
      <vt:lpstr>Temperature Control in Industrial Processes Using Sensors and Programming</vt:lpstr>
      <vt:lpstr>Precision Temperature Control Solutions</vt:lpstr>
      <vt:lpstr>Overview of Temperature Control Challenges</vt:lpstr>
      <vt:lpstr>Role of Sensors in Improving Accuracy</vt:lpstr>
      <vt:lpstr>Programming for Adaptive Temperature Control</vt:lpstr>
      <vt:lpstr>Enhanced Precision Through Integrated Systems</vt:lpstr>
      <vt:lpstr>Benefits and Outcomes of Adaptive Control Mechanisms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5</cp:revision>
  <dcterms:created xsi:type="dcterms:W3CDTF">2025-11-25T18:57:06Z</dcterms:created>
  <dcterms:modified xsi:type="dcterms:W3CDTF">2026-02-04T15:41:38Z</dcterms:modified>
</cp:coreProperties>
</file>